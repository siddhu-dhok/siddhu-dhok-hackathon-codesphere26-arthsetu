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embeddedFontLst>
    <p:embeddedFont>
      <p:font typeface="Oswald"/>
      <p:regular r:id="rId13"/>
      <p:bold r:id="rId14"/>
    </p:embeddedFon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Garamond" panose="02020404030301010803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8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1">
            <a:alphaModFix amt="20000"/>
          </a:blip>
          <a:srcRect/>
          <a:stretch>
            <a:fillRect/>
          </a:stretch>
        </p:blipFill>
        <p:spPr>
          <a:xfrm>
            <a:off x="2542782" y="357352"/>
            <a:ext cx="7106436" cy="710643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465136" y="52814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endParaRPr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 PAGE</a:t>
            </a:r>
            <a:endParaRPr sz="32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56745" y="-479495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CODESPHERE</a:t>
            </a:r>
            <a:r>
              <a:rPr lang="en-US" sz="3200" b="1" i="0" u="none" strike="noStrike" cap="none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 </a:t>
            </a:r>
            <a:r>
              <a:rPr lang="en-US" sz="3600" b="1" i="0" u="none" strike="noStrike" cap="none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HACKATHON</a:t>
            </a:r>
            <a:r>
              <a:rPr lang="en-US" sz="3200" b="1" i="0" u="none" strike="noStrike" cap="none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  <a:r>
              <a:rPr lang="en-US" sz="3600" b="1" i="0" u="none" strike="noStrike" cap="none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2026</a:t>
            </a:r>
            <a:endParaRPr sz="3200" b="1" i="0" u="none" strike="noStrike" cap="none">
              <a:solidFill>
                <a:schemeClr val="dk2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25450" y="1539240"/>
            <a:ext cx="11595100" cy="452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Problem Statement Title :-   </a:t>
            </a:r>
            <a:r>
              <a:rPr lang="en-US" alt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AI-Driven Hyper-Personalized Financial Intelligence&amp;                                 </a:t>
            </a:r>
            <a:endParaRPr lang="en-US" altLang="en-US"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alt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    Decision Support Platform</a:t>
            </a:r>
            <a:endParaRPr lang="en-US" altLang="en-US"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Theme :-  </a:t>
            </a:r>
            <a:r>
              <a:rPr lang="en-US" alt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FinTech</a:t>
            </a:r>
            <a:endParaRPr lang="en-US" altLang="en-US"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Name :- Team </a:t>
            </a:r>
            <a:r>
              <a:rPr lang="en-US" altLang="en-US" sz="2400" b="1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ArthSetu</a:t>
            </a:r>
            <a:endParaRPr lang="en-US" altLang="en-US"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Leader’s Name :-  </a:t>
            </a:r>
            <a:r>
              <a:rPr lang="en-US" alt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Sultane Ajinkya Jagannath</a:t>
            </a:r>
            <a:endParaRPr lang="en-US" altLang="en-US"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College Name -  </a:t>
            </a:r>
            <a:r>
              <a:rPr lang="en-US" alt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Government College of Engineering, Jalgaon</a:t>
            </a:r>
            <a:endParaRPr lang="en-US" altLang="en-US" sz="24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304296" y="204290"/>
            <a:ext cx="587389" cy="74951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0835034" y="204290"/>
            <a:ext cx="13569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GCOE, JALGAON</a:t>
            </a:r>
            <a:endParaRPr lang="en-US" sz="1800" b="1" i="0" u="none" strike="noStrike" cap="none">
              <a:solidFill>
                <a:srgbClr val="59595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5" name="Google Shape;95;p1" title="IMG_0017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204300"/>
            <a:ext cx="2041073" cy="11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492125" y="2733675"/>
            <a:ext cx="167005" cy="1193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6000"/>
          </a:schemeClr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9739630" y="1036955"/>
            <a:ext cx="2324100" cy="546989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Google Shape;101;p2"/>
          <p:cNvSpPr/>
          <p:nvPr/>
        </p:nvSpPr>
        <p:spPr>
          <a:xfrm>
            <a:off x="0" y="6631940"/>
            <a:ext cx="12192000" cy="2260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94945" y="43180"/>
            <a:ext cx="109728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ArthSetu AI – Your Personal Financial Assistant</a:t>
            </a:r>
            <a:endParaRPr lang="en-US" alt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-248285" y="608965"/>
            <a:ext cx="11830685" cy="37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Solution :-</a:t>
            </a: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8922385" y="6604000"/>
            <a:ext cx="2844800" cy="24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1">
            <a:alphaModFix amt="70000"/>
          </a:blip>
          <a:srcRect/>
          <a:stretch>
            <a:fillRect/>
          </a:stretch>
        </p:blipFill>
        <p:spPr>
          <a:xfrm>
            <a:off x="169427" y="43309"/>
            <a:ext cx="9429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0835034" y="204290"/>
            <a:ext cx="13569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GCOE, JALGAON</a:t>
            </a:r>
            <a:endParaRPr lang="en-US" sz="1800" b="1">
              <a:solidFill>
                <a:srgbClr val="59595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304296" y="204290"/>
            <a:ext cx="587389" cy="7495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ound Single Corner Rectangle 4"/>
          <p:cNvSpPr/>
          <p:nvPr/>
        </p:nvSpPr>
        <p:spPr>
          <a:xfrm flipH="1">
            <a:off x="441960" y="1115695"/>
            <a:ext cx="4559300" cy="2644140"/>
          </a:xfrm>
          <a:prstGeom prst="round1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ingle Corner Rectangle 5"/>
          <p:cNvSpPr/>
          <p:nvPr/>
        </p:nvSpPr>
        <p:spPr>
          <a:xfrm>
            <a:off x="5091430" y="1115695"/>
            <a:ext cx="4390390" cy="2655570"/>
          </a:xfrm>
          <a:prstGeom prst="round1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Single Corner Rectangle 6"/>
          <p:cNvSpPr/>
          <p:nvPr/>
        </p:nvSpPr>
        <p:spPr>
          <a:xfrm flipH="1" flipV="1">
            <a:off x="442595" y="3889375"/>
            <a:ext cx="4558665" cy="2600325"/>
          </a:xfrm>
          <a:prstGeom prst="round1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 Single Corner Rectangle 7"/>
          <p:cNvSpPr/>
          <p:nvPr/>
        </p:nvSpPr>
        <p:spPr>
          <a:xfrm flipV="1">
            <a:off x="5096510" y="3895725"/>
            <a:ext cx="4479925" cy="2583815"/>
          </a:xfrm>
          <a:prstGeom prst="round1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6-02-28 1843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" y="1005205"/>
            <a:ext cx="1292860" cy="2661285"/>
          </a:xfrm>
          <a:prstGeom prst="round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772650" y="1227455"/>
            <a:ext cx="2291080" cy="5135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/>
              <a:t>HOW IT ADDRESSES THE PROBLEM :-</a:t>
            </a:r>
            <a:endParaRPr lang="en-US" altLang="en-US" sz="1600" b="1"/>
          </a:p>
          <a:p>
            <a:r>
              <a:rPr lang="en-US" altLang="en-US" sz="1600"/>
              <a:t>Our Solution Provides:</a:t>
            </a:r>
            <a:endParaRPr lang="en-US" altLang="en-US" sz="1600"/>
          </a:p>
          <a:p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Unified Financial Dashboard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Real-time expense tracking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Behavioral learning system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Future cash flow prediction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AI-generated explainable recommendations</a:t>
            </a:r>
            <a:endParaRPr lang="en-US" altLang="en-US" sz="1600" b="1"/>
          </a:p>
        </p:txBody>
      </p:sp>
      <p:sp>
        <p:nvSpPr>
          <p:cNvPr id="4" name="Text Box 3"/>
          <p:cNvSpPr txBox="1"/>
          <p:nvPr/>
        </p:nvSpPr>
        <p:spPr>
          <a:xfrm>
            <a:off x="1345565" y="1154430"/>
            <a:ext cx="3655695" cy="279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>
                <a:solidFill>
                  <a:srgbClr val="FF0000"/>
                </a:solidFill>
              </a:rPr>
              <a:t>1. Expense Tracker</a:t>
            </a:r>
            <a:r>
              <a:rPr lang="en-US" altLang="en-US" sz="1600" b="1"/>
              <a:t>:-  </a:t>
            </a:r>
            <a:r>
              <a:rPr lang="en-US" altLang="en-US" sz="1600"/>
              <a:t>it is an intelligent </a:t>
            </a:r>
            <a:r>
              <a:rPr lang="en-US" altLang="en-US" sz="1600" b="1"/>
              <a:t>financial monitoring system</a:t>
            </a:r>
            <a:r>
              <a:rPr lang="en-US" altLang="en-US" sz="1600"/>
              <a:t> that:</a:t>
            </a:r>
            <a:endParaRPr lang="en-US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/>
              <a:t>Tracks Daily, Weekly, and Monthly Expenses.</a:t>
            </a:r>
            <a:endParaRPr lang="en-US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/>
              <a:t>Automatically detects transactions using </a:t>
            </a:r>
            <a:r>
              <a:rPr lang="en-US" altLang="en-US" sz="1600" b="1"/>
              <a:t>SMS parsing .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/>
              <a:t>Categorizes </a:t>
            </a:r>
            <a:r>
              <a:rPr lang="en-US" altLang="en-US" sz="1600" b="1"/>
              <a:t>spending behavior</a:t>
            </a:r>
            <a:endParaRPr lang="en-US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/>
              <a:t>Generates real-time expense </a:t>
            </a:r>
            <a:r>
              <a:rPr lang="en-US" altLang="en-US" sz="1600" b="1"/>
              <a:t>reports and analytics</a:t>
            </a:r>
            <a:endParaRPr lang="en-US" altLang="en-US" sz="1600" b="1"/>
          </a:p>
        </p:txBody>
      </p:sp>
      <p:pic>
        <p:nvPicPr>
          <p:cNvPr id="11" name="Picture 10" descr="Screenshot 2026-02-28 184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470" y="991235"/>
            <a:ext cx="1407160" cy="2696210"/>
          </a:xfrm>
          <a:prstGeom prst="round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5168900" y="1127125"/>
            <a:ext cx="322643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2. Wealth </a:t>
            </a:r>
            <a:r>
              <a:rPr lang="en-US" altLang="en-US" sz="1600" b="1">
                <a:solidFill>
                  <a:srgbClr val="FF0000"/>
                </a:solidFill>
              </a:rPr>
              <a:t>&amp; Visualization</a:t>
            </a:r>
            <a:r>
              <a:rPr lang="en-US" altLang="en-US" sz="1600" b="1"/>
              <a:t> :- </a:t>
            </a:r>
            <a:endParaRPr lang="en-US" altLang="en-US" sz="1600" b="1"/>
          </a:p>
          <a:p>
            <a:r>
              <a:rPr lang="en-US" altLang="en-US" sz="1600" b="1"/>
              <a:t>A. Wealth Module </a:t>
            </a:r>
            <a:r>
              <a:rPr lang="en-US" altLang="en-US" sz="1600"/>
              <a:t>provides a </a:t>
            </a:r>
            <a:r>
              <a:rPr lang="en-US" altLang="en-US" sz="1600" b="1"/>
              <a:t>view of complete financial position</a:t>
            </a:r>
            <a:r>
              <a:rPr lang="en-US" altLang="en-US" sz="1600"/>
              <a:t> by tracking Savings, Investments, Bank Balance.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 b="1"/>
              <a:t>B. Visualization:</a:t>
            </a:r>
            <a:r>
              <a:rPr lang="en-US" altLang="en-US" sz="1600"/>
              <a:t> Generates </a:t>
            </a:r>
            <a:r>
              <a:rPr lang="en-US" altLang="en-US" sz="1600" b="1"/>
              <a:t>dependency graphs</a:t>
            </a:r>
            <a:r>
              <a:rPr lang="en-US" altLang="en-US" sz="1600"/>
              <a:t> and detects hidden risks and shows </a:t>
            </a:r>
            <a:r>
              <a:rPr lang="en-US" altLang="en-US" sz="1600" b="1"/>
              <a:t> warnings and Risk factors. </a:t>
            </a:r>
            <a:endParaRPr lang="en-US" altLang="en-US" sz="1600" b="1"/>
          </a:p>
          <a:p>
            <a:endParaRPr lang="en-US" altLang="en-US" sz="1600" b="1"/>
          </a:p>
        </p:txBody>
      </p:sp>
      <p:pic>
        <p:nvPicPr>
          <p:cNvPr id="13" name="Picture 12" descr="Screenshot 2026-02-28 1843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" y="3948430"/>
            <a:ext cx="1292225" cy="2648585"/>
          </a:xfrm>
          <a:prstGeom prst="round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405890" y="4008120"/>
            <a:ext cx="3595370" cy="2310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>
                <a:solidFill>
                  <a:srgbClr val="FF0000"/>
                </a:solidFill>
              </a:rPr>
              <a:t>3. Risk Model </a:t>
            </a:r>
            <a:r>
              <a:rPr lang="en-US" altLang="en-US" sz="1600" b="1"/>
              <a:t>:-Send a notification when the threshold is reached.</a:t>
            </a:r>
            <a:endParaRPr lang="en-US" altLang="en-US" sz="1600" b="1"/>
          </a:p>
          <a:p>
            <a:endParaRPr lang="en-US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/>
              <a:t>A mathematical system that predicts: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Overspending risk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Financial instability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Unusual transactions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 b="1"/>
          </a:p>
        </p:txBody>
      </p:sp>
      <p:pic>
        <p:nvPicPr>
          <p:cNvPr id="15" name="Picture 14" descr="Screenshot 2026-02-28 1844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815" y="3949065"/>
            <a:ext cx="1407795" cy="2650490"/>
          </a:xfrm>
          <a:prstGeom prst="round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5168900" y="3971925"/>
            <a:ext cx="3319780" cy="2374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>
                <a:solidFill>
                  <a:srgbClr val="FF0000"/>
                </a:solidFill>
              </a:rPr>
              <a:t>4. Services We Provide </a:t>
            </a:r>
            <a:r>
              <a:rPr lang="en-US" altLang="en-US" sz="1600" b="1">
                <a:solidFill>
                  <a:schemeClr val="tx1"/>
                </a:solidFill>
              </a:rPr>
              <a:t>:- </a:t>
            </a:r>
            <a:endParaRPr lang="en-US" altLang="en-US" sz="1600" b="1">
              <a:solidFill>
                <a:schemeClr val="tx1"/>
              </a:solidFill>
            </a:endParaRPr>
          </a:p>
          <a:p>
            <a:endParaRPr lang="en-US" altLang="en-US" sz="1600" b="1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Anomaly Detection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Spending Velocity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Financial Risk Scroe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Overall Financial Health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 b="1"/>
              <a:t>Multi-Bank And Transaction Support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 b="1"/>
          </a:p>
        </p:txBody>
      </p:sp>
      <p:pic>
        <p:nvPicPr>
          <p:cNvPr id="9" name="Picture 8" descr="Screenshot 2026-03-04 154221"/>
          <p:cNvPicPr>
            <a:picLocks noChangeAspect="1"/>
          </p:cNvPicPr>
          <p:nvPr/>
        </p:nvPicPr>
        <p:blipFill>
          <a:blip r:embed="rId7"/>
          <a:srcRect t="485" r="2152"/>
          <a:stretch>
            <a:fillRect/>
          </a:stretch>
        </p:blipFill>
        <p:spPr>
          <a:xfrm>
            <a:off x="57785" y="987425"/>
            <a:ext cx="1280160" cy="270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487798" y="-20828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TECHNICAL APPROACH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1">
            <a:alphaModFix amt="70000"/>
          </a:blip>
          <a:srcRect/>
          <a:stretch>
            <a:fillRect/>
          </a:stretch>
        </p:blipFill>
        <p:spPr>
          <a:xfrm>
            <a:off x="169427" y="-84961"/>
            <a:ext cx="9429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10835034" y="49985"/>
            <a:ext cx="13569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GCOE, JALGAON</a:t>
            </a:r>
            <a:endParaRPr lang="en-US" sz="1800" b="1">
              <a:solidFill>
                <a:srgbClr val="59595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304296" y="49985"/>
            <a:ext cx="587389" cy="74951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0" y="6631940"/>
            <a:ext cx="12192000" cy="2260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922385" y="6604000"/>
            <a:ext cx="2844800" cy="2489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7" name="Picture 6" descr="Gemini_Generated_Image_v7d0bzv7d0bzv7d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730" y="814070"/>
            <a:ext cx="7009765" cy="5693410"/>
          </a:xfrm>
          <a:prstGeom prst="rect">
            <a:avLst/>
          </a:prstGeom>
        </p:spPr>
      </p:pic>
      <p:pic>
        <p:nvPicPr>
          <p:cNvPr id="3" name="Picture 0" descr="WhatsApp Image 2026-03-04 at 10.34.57 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335" y="934720"/>
            <a:ext cx="2108200" cy="391160"/>
          </a:xfrm>
          <a:prstGeom prst="rect">
            <a:avLst/>
          </a:prstGeom>
        </p:spPr>
      </p:pic>
      <p:pic>
        <p:nvPicPr>
          <p:cNvPr id="8" name="Picture 7" descr="Gemini_Generated_Image_2rqdyu2rqdyu2rqd"/>
          <p:cNvPicPr>
            <a:picLocks noChangeAspect="1"/>
          </p:cNvPicPr>
          <p:nvPr/>
        </p:nvPicPr>
        <p:blipFill>
          <a:blip r:embed="rId5"/>
          <a:srcRect b="4437"/>
          <a:stretch>
            <a:fillRect/>
          </a:stretch>
        </p:blipFill>
        <p:spPr>
          <a:xfrm>
            <a:off x="0" y="696595"/>
            <a:ext cx="5077460" cy="58108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/>
          <p:cNvSpPr/>
          <p:nvPr/>
        </p:nvSpPr>
        <p:spPr>
          <a:xfrm flipH="1">
            <a:off x="149225" y="1270000"/>
            <a:ext cx="4241800" cy="4969510"/>
          </a:xfrm>
          <a:prstGeom prst="round2Diag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487798" y="12699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FEASIBILITY AND VIABILITY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69545" y="1324610"/>
            <a:ext cx="4029710" cy="4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altLang="en-US" sz="2000" b="1" i="0" u="none" strike="noStrike" cap="none">
                <a:solidFill>
                  <a:srgbClr val="000000"/>
                </a:solidFill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Feasibility Analysis</a:t>
            </a:r>
            <a:endParaRPr lang="en-US" altLang="en-US" sz="2000" b="1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endParaRPr lang="en-US" altLang="en-US" sz="20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Uses proven Android SMS parsing capabilities</a:t>
            </a: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Built on scalable Firebase cloud infrastructure</a:t>
            </a: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Firebase cloud function and models suitable for real-time processing</a:t>
            </a: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Modular architecture enables rapid development</a:t>
            </a: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endParaRPr lang="en-US" altLang="en-US"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charset="0"/>
              <a:buChar char="Ø"/>
            </a:pPr>
            <a:r>
              <a:rPr lang="en-US" altLang="en-US" sz="1800" b="0" i="0" u="none" strike="noStrike" cap="none">
                <a:solidFill>
                  <a:srgbClr val="000000"/>
                </a:solidFill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Designed as a deployable MVP within hackathon timeline</a:t>
            </a:r>
            <a:endParaRPr sz="1800" b="0" i="0" u="none" strike="noStrike" cap="none">
              <a:solidFill>
                <a:srgbClr val="000000"/>
              </a:solidFill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1">
            <a:alphaModFix amt="70000"/>
          </a:blip>
          <a:srcRect/>
          <a:stretch>
            <a:fillRect/>
          </a:stretch>
        </p:blipFill>
        <p:spPr>
          <a:xfrm>
            <a:off x="169427" y="43309"/>
            <a:ext cx="9429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10835034" y="204290"/>
            <a:ext cx="13569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GCOE, JALGAON</a:t>
            </a:r>
            <a:endParaRPr lang="en-US" sz="1800" b="1">
              <a:solidFill>
                <a:srgbClr val="59595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1" name="Google Shape;131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304296" y="204290"/>
            <a:ext cx="587389" cy="74951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0" y="6631940"/>
            <a:ext cx="12192000" cy="2260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922385" y="6604000"/>
            <a:ext cx="2844800" cy="2489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670" y="1593850"/>
            <a:ext cx="7412355" cy="4509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69545" y="954405"/>
            <a:ext cx="3766820" cy="544957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Google Shape;138;p5"/>
          <p:cNvSpPr txBox="1">
            <a:spLocks noGrp="1"/>
          </p:cNvSpPr>
          <p:nvPr>
            <p:ph type="title"/>
          </p:nvPr>
        </p:nvSpPr>
        <p:spPr>
          <a:xfrm>
            <a:off x="487798" y="-6032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IMPACT AND BENEFITS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325755" y="1913890"/>
            <a:ext cx="3610610" cy="230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Social Impact </a:t>
            </a:r>
            <a:r>
              <a:rPr lang="en-US" altLang="en-US" sz="1800" b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:- </a:t>
            </a:r>
            <a:endParaRPr lang="en-US" altLang="en-US" sz="1800" b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Prevents debt traps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Improves financial discipline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Encourages goal-based savings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1">
            <a:alphaModFix amt="70000"/>
          </a:blip>
          <a:srcRect/>
          <a:stretch>
            <a:fillRect/>
          </a:stretch>
        </p:blipFill>
        <p:spPr>
          <a:xfrm>
            <a:off x="169427" y="43309"/>
            <a:ext cx="9429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10835034" y="204290"/>
            <a:ext cx="13569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GCOE, JALGAON</a:t>
            </a:r>
            <a:endParaRPr lang="en-US" sz="1800" b="1">
              <a:solidFill>
                <a:srgbClr val="59595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304296" y="204290"/>
            <a:ext cx="587389" cy="74951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0" y="6631940"/>
            <a:ext cx="12192000" cy="22606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922385" y="6604000"/>
            <a:ext cx="2844800" cy="2489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3205" y="3950970"/>
            <a:ext cx="36195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>
                <a:solidFill>
                  <a:srgbClr val="FF0000"/>
                </a:solidFill>
              </a:rPr>
              <a:t>Economic Impact</a:t>
            </a:r>
            <a:r>
              <a:rPr lang="en-US" altLang="en-US" sz="1800" b="1"/>
              <a:t> :- </a:t>
            </a:r>
            <a:endParaRPr lang="en-US" altLang="en-US" sz="1800" b="1"/>
          </a:p>
          <a:p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Reduced income stability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ym typeface="+mn-ea"/>
              </a:rPr>
              <a:t>Early financial stress detection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Better liquidity planning</a:t>
            </a:r>
            <a:endParaRPr lang="en-US" alt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/>
              <a:t>Improved investment discipline</a:t>
            </a:r>
            <a:endParaRPr lang="en-US" altLang="en-US" sz="180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/>
          </a:p>
        </p:txBody>
      </p:sp>
      <p:sp>
        <p:nvSpPr>
          <p:cNvPr id="3" name="Text Box 2"/>
          <p:cNvSpPr txBox="1"/>
          <p:nvPr/>
        </p:nvSpPr>
        <p:spPr>
          <a:xfrm>
            <a:off x="700405" y="1219835"/>
            <a:ext cx="2826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IMPACT</a:t>
            </a:r>
            <a:endParaRPr lang="en-US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1345565"/>
            <a:ext cx="8014970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>
            <a:spLocks noGrp="1"/>
          </p:cNvSpPr>
          <p:nvPr>
            <p:ph type="title"/>
          </p:nvPr>
        </p:nvSpPr>
        <p:spPr>
          <a:xfrm>
            <a:off x="487798" y="-889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 AND REFERENCES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 rotWithShape="1">
          <a:blip r:embed="rId1">
            <a:alphaModFix amt="70000"/>
          </a:blip>
          <a:srcRect/>
          <a:stretch>
            <a:fillRect/>
          </a:stretch>
        </p:blipFill>
        <p:spPr>
          <a:xfrm>
            <a:off x="169427" y="43309"/>
            <a:ext cx="9429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10835034" y="204290"/>
            <a:ext cx="13569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GCOE, JALGAON</a:t>
            </a:r>
            <a:endParaRPr lang="en-US" sz="1800" b="1">
              <a:solidFill>
                <a:srgbClr val="59595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304296" y="204290"/>
            <a:ext cx="587389" cy="74951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0" y="3429000"/>
            <a:ext cx="12192000" cy="342392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922385" y="6604000"/>
            <a:ext cx="2844800" cy="2489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92480" y="1283335"/>
            <a:ext cx="10442575" cy="4923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800" b="1"/>
              <a:t>Research Inputs</a:t>
            </a:r>
            <a:endParaRPr lang="en-US" altLang="en-US" sz="1800" b="1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Firebase official documentation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Android SMS Retriever documentation</a:t>
            </a:r>
            <a:endParaRPr lang="en-US" altLang="en-US" sz="1800"/>
          </a:p>
          <a:p>
            <a:pPr marL="0" indent="0">
              <a:buFont typeface="Wingdings" panose="05000000000000000000" charset="0"/>
              <a:buNone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Network Models in Economics and Finance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800" b="1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1800" b="1"/>
              <a:t>Technical References</a:t>
            </a:r>
            <a:endParaRPr lang="en-US" altLang="en-US" sz="1800" b="1"/>
          </a:p>
          <a:p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Firebase Documentation — https://firebase.google.com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Android SMS APIs — developer.android.com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Personal finance behavioural research papers</a:t>
            </a: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8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/>
              <a:t>Probabilistic Graphical Models :- Classic foundational work -  Judea Pearl</a:t>
            </a:r>
            <a:endParaRPr lang="en-US" altLang="en-US" sz="1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WPS Presentation</Application>
  <PresentationFormat>Widescreen</PresentationFormat>
  <Paragraphs>142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Arial</vt:lpstr>
      <vt:lpstr>Oswald</vt:lpstr>
      <vt:lpstr>Calibri</vt:lpstr>
      <vt:lpstr>Times New Roman</vt:lpstr>
      <vt:lpstr>Noto Sans Symbols</vt:lpstr>
      <vt:lpstr>Segoe Print</vt:lpstr>
      <vt:lpstr>Garamond</vt:lpstr>
      <vt:lpstr>Wingdings</vt:lpstr>
      <vt:lpstr>Microsoft YaHei</vt:lpstr>
      <vt:lpstr>Arial Unicode MS</vt:lpstr>
      <vt:lpstr>Office Theme</vt:lpstr>
      <vt:lpstr>PowerPoint 演示文稿</vt:lpstr>
      <vt:lpstr>ArthSetu AI – Your Personal Financial Assistant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Ajinkya sultane</dc:creator>
  <cp:lastModifiedBy>Nishant tarone</cp:lastModifiedBy>
  <cp:revision>46</cp:revision>
  <dcterms:created xsi:type="dcterms:W3CDTF">2026-02-27T07:03:00Z</dcterms:created>
  <dcterms:modified xsi:type="dcterms:W3CDTF">2026-04-03T17:45:48Z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121F1C424F524F2B8FE8A32CEFFB5DB6_12</vt:lpwstr>
  </property>
  <property fmtid="{D5CDD505-2E9C-101B-9397-08002B2CF9AE}" pid="3" name="KSOProductBuildVer">
    <vt:lpwstr>1033-12.1.0.25830</vt:lpwstr>
  </property>
</Properties>
</file>